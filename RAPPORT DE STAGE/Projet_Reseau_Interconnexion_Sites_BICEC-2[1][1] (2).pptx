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1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126" y="7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3307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9710" y="-39983"/>
            <a:ext cx="4023360" cy="6858000"/>
          </a:xfrm>
          <a:prstGeom prst="rect">
            <a:avLst/>
          </a:prstGeom>
          <a:solidFill>
            <a:srgbClr val="F26E21"/>
          </a:solidFill>
          <a:ln/>
        </p:spPr>
      </p:sp>
      <p:sp>
        <p:nvSpPr>
          <p:cNvPr id="3" name="Shape 1"/>
          <p:cNvSpPr/>
          <p:nvPr/>
        </p:nvSpPr>
        <p:spPr>
          <a:xfrm>
            <a:off x="9281579" y="-960120"/>
            <a:ext cx="3840480" cy="3840480"/>
          </a:xfrm>
          <a:prstGeom prst="ellipse">
            <a:avLst/>
          </a:prstGeom>
          <a:solidFill>
            <a:srgbClr val="C9540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1148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F26E2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97180"/>
            <a:ext cx="1635853" cy="9360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058400" y="41148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8A8F9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0" y="4114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91921" y="191856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 smtClean="0">
                <a:solidFill>
                  <a:srgbClr val="C9540F"/>
                </a:solidFill>
                <a:latin typeface="Calibri" pitchFamily="34" charset="0"/>
                <a:cs typeface="Calibri" pitchFamily="34" charset="-120"/>
              </a:rPr>
              <a:t>RESEAU INFORMATIQUE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7315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Interconnexion sécurisée</a:t>
            </a:r>
            <a:endParaRPr lang="en-US" sz="3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deux sites </a:t>
            </a:r>
            <a:r>
              <a:rPr lang="en-US" sz="3400" b="1" dirty="0" err="1" smtClean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d'entreprise</a:t>
            </a:r>
            <a:r>
              <a:rPr lang="en-US" sz="3400" b="1" dirty="0" smtClean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400" b="1" dirty="0" err="1" smtClean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bancaire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48640" y="4160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Messagerie électronique  •  Téléphonie IP  •  NAT &amp; ACL  •  Détection d'intrusion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réalisée sous Cisco Packet Tracer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0" y="4846320"/>
            <a:ext cx="3520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D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par
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Benoît Christian
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D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Encadreur de stage
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Ebelle Sergil Maxence Eslain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0" y="237744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— BICEC</a:t>
            </a:r>
            <a:endParaRPr lang="en-US" sz="1200" dirty="0"/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702" y="0"/>
            <a:ext cx="3119228" cy="1318260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0778" y="-39984"/>
            <a:ext cx="3052292" cy="13849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5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 de la présentation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53949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Remerciements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Contexte et objectifs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Cahier des charges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Étude de l'existant BICEC &amp; axes d'amélioration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Architecture générale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Plan d'adressage IP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Configuration de base des routeurs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Liaison inter-sites et routage OSPF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VLAN et routage inter-VLAN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Service DHCP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NAT — accès Internet sécurisé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309360" y="1417320"/>
            <a:ext cx="53949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Messagerie électronique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Téléphonie IP (Cisco CME)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Restriction et limitation des appels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Sécurisation SSH &amp; Port Security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Listes de contrôle d'accès (ACL)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Détection et alerte automatique d'intrusion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Coût estimatif de réalisation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Tests et validation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Conclusion et perspectives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Interconnexion sécurisée de deux sites — BICEC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F26E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C95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</a:t>
            </a:r>
            <a:endParaRPr lang="en-US" sz="10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C95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BICEC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149840" y="32004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8A8F9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49840" y="3200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</a:t>
            </a:r>
            <a:endParaRPr lang="en-US" sz="10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ESIAC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C95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DÉDICACE &amp; REMERCIEMENTS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5875">
            <a:solidFill>
              <a:srgbClr val="F26E2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65960"/>
            <a:ext cx="5303520" cy="502920"/>
          </a:xfrm>
          <a:prstGeom prst="roundRect">
            <a:avLst>
              <a:gd name="adj" fmla="val 14545"/>
            </a:avLst>
          </a:prstGeom>
          <a:solidFill>
            <a:srgbClr val="F26E21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286000"/>
            <a:ext cx="5303520" cy="182880"/>
          </a:xfrm>
          <a:prstGeom prst="rect">
            <a:avLst/>
          </a:prstGeom>
          <a:solidFill>
            <a:srgbClr val="F26E21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9659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Dédicace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274320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dédie ce travail à ma famille et à tous ceux qui m'ont soutenu tout au long de mon parcours académique et de mon stage à la BICEC.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96596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5875">
            <a:solidFill>
              <a:srgbClr val="F26E2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965960"/>
            <a:ext cx="5486400" cy="502920"/>
          </a:xfrm>
          <a:prstGeom prst="roundRect">
            <a:avLst>
              <a:gd name="adj" fmla="val 14545"/>
            </a:avLst>
          </a:prstGeom>
          <a:solidFill>
            <a:srgbClr val="F26E21"/>
          </a:solidFill>
          <a:ln/>
        </p:spPr>
      </p:sp>
      <p:sp>
        <p:nvSpPr>
          <p:cNvPr id="14" name="Shape 12"/>
          <p:cNvSpPr/>
          <p:nvPr/>
        </p:nvSpPr>
        <p:spPr>
          <a:xfrm>
            <a:off x="6126480" y="2286000"/>
            <a:ext cx="5486400" cy="182880"/>
          </a:xfrm>
          <a:prstGeom prst="rect">
            <a:avLst/>
          </a:prstGeom>
          <a:solidFill>
            <a:srgbClr val="F26E21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19659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Remerciements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46520" y="27432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tiens à remercier chaleureusement </a:t>
            </a:r>
            <a:r>
              <a:rPr lang="en-US" sz="1300" b="1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Ebelle Sergil Maxence Eslain</a:t>
            </a: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mon encadreur de stage, pour sa disponibilité, ses conseils avisés et le suivi apporté tout au long de </a:t>
            </a:r>
            <a:r>
              <a:rPr lang="en-US" sz="1300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</a:t>
            </a: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
</a:t>
            </a:r>
            <a:r>
              <a:rPr lang="en-US" sz="1300" dirty="0" err="1" smtClean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J’indique</a:t>
            </a:r>
            <a:r>
              <a:rPr lang="en-US" sz="1300" dirty="0" smtClean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aussi</a:t>
            </a:r>
            <a:r>
              <a:rPr lang="en-US" sz="1300" dirty="0" smtClean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</a:t>
            </a:r>
            <a:r>
              <a:rPr lang="en-US" sz="1300" dirty="0" err="1" smtClean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remerciements</a:t>
            </a:r>
            <a:r>
              <a:rPr lang="en-US" sz="1300" dirty="0" smtClean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avec </a:t>
            </a:r>
            <a:r>
              <a:rPr lang="en-US" sz="1300" dirty="0" err="1" smtClean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</a:t>
            </a:r>
            <a:r>
              <a:rPr lang="en-US" sz="1300" dirty="0" smtClean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</a:t>
            </a:r>
            <a:r>
              <a:rPr lang="en-US" sz="1300" dirty="0" err="1" smtClean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honneurs</a:t>
            </a:r>
            <a:r>
              <a:rPr lang="en-US" sz="1300" dirty="0" smtClean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qui </a:t>
            </a:r>
            <a:r>
              <a:rPr lang="en-US" sz="1300" dirty="0" err="1" smtClean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vont</a:t>
            </a:r>
            <a:r>
              <a:rPr lang="en-US" sz="1300" dirty="0" smtClean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avec à </a:t>
            </a:r>
            <a:r>
              <a:rPr lang="en-US" sz="1300" b="1" i="1" dirty="0" err="1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Mme</a:t>
            </a:r>
            <a:r>
              <a:rPr lang="en-US" sz="1300" b="1" i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 EKOUM YOLANDE.</a:t>
            </a: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Mes remerciements vont également à l'ensemble du personnel de la BICEC pour son accueil, </a:t>
            </a:r>
            <a:r>
              <a:rPr lang="en-US" sz="1300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ainsi</a:t>
            </a: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qu'au</a:t>
            </a:r>
            <a:r>
              <a:rPr lang="en-US" sz="1300" dirty="0" smtClean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président</a:t>
            </a:r>
            <a:r>
              <a:rPr lang="en-US" sz="1300" dirty="0" smtClean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directeur</a:t>
            </a:r>
            <a:r>
              <a:rPr lang="en-US" sz="1300" dirty="0" smtClean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général</a:t>
            </a:r>
            <a:r>
              <a:rPr lang="en-US" sz="1300" dirty="0" smtClean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</a:t>
            </a:r>
            <a:r>
              <a:rPr lang="en-US" sz="1300" b="1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</a:t>
            </a:r>
            <a:r>
              <a:rPr lang="en-US" sz="1300" b="1" i="1" dirty="0" err="1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ESIAC</a:t>
            </a:r>
            <a:r>
              <a:rPr lang="en-US" sz="130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i="1" dirty="0" smtClean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300" b="1" i="1" dirty="0" err="1" smtClean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</a:t>
            </a:r>
            <a:r>
              <a:rPr lang="en-US" sz="1300" b="1" i="1" dirty="0" smtClean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</a:t>
            </a:r>
            <a:r>
              <a:rPr lang="en-US" sz="1300" b="1" i="1" dirty="0" smtClean="0"/>
              <a:t>GWEM JEAN.</a:t>
            </a:r>
            <a:endParaRPr lang="en-US" sz="1300" b="1" i="1" dirty="0" smtClean="0">
              <a:solidFill>
                <a:srgbClr val="5B647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48640" y="6263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Benoît Christian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Interconnexion sécurisée de deux sites — BICEC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20" name="Imag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94" y="0"/>
            <a:ext cx="2862237" cy="1162050"/>
          </a:xfrm>
          <a:prstGeom prst="rect">
            <a:avLst/>
          </a:prstGeom>
        </p:spPr>
      </p:pic>
      <p:pic>
        <p:nvPicPr>
          <p:cNvPr id="21" name="Image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3957" y="-9474"/>
            <a:ext cx="3188042" cy="13110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5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et objectifs du projet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943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entreprise possède deux sites distants qui doivent communiquer comme un seul réseau logique.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site dispose de postes utilisateurs, d'une messagerie interne et de téléphones IP.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réseau doit rester fonctionnel, cloisonné (VLAN) et évolutif.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sécurité doit être proactive : toute tentative d'intrusion doit être détectée et signalée automatiquement.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371600"/>
            <a:ext cx="4846320" cy="1051560"/>
          </a:xfrm>
          <a:prstGeom prst="roundRect">
            <a:avLst>
              <a:gd name="adj" fmla="val 5217"/>
            </a:avLst>
          </a:prstGeom>
          <a:solidFill>
            <a:srgbClr val="FBF4EF"/>
          </a:solidFill>
          <a:ln w="9525">
            <a:solidFill>
              <a:srgbClr val="F0DC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0" y="1554480"/>
            <a:ext cx="320040" cy="320040"/>
          </a:xfrm>
          <a:prstGeom prst="roundRect">
            <a:avLst>
              <a:gd name="adj" fmla="val 22857"/>
            </a:avLst>
          </a:prstGeom>
          <a:solidFill>
            <a:srgbClr val="F26E21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0" y="14813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Interconnecter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06640" y="181051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Relier les deux sites via une liaison WAN et un routage inter-sites.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766560" y="2560320"/>
            <a:ext cx="4846320" cy="1051560"/>
          </a:xfrm>
          <a:prstGeom prst="roundRect">
            <a:avLst>
              <a:gd name="adj" fmla="val 5217"/>
            </a:avLst>
          </a:prstGeom>
          <a:solidFill>
            <a:srgbClr val="FBF4EF"/>
          </a:solidFill>
          <a:ln w="9525">
            <a:solidFill>
              <a:srgbClr val="F0DC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0" y="2743200"/>
            <a:ext cx="320040" cy="320040"/>
          </a:xfrm>
          <a:prstGeom prst="roundRect">
            <a:avLst>
              <a:gd name="adj" fmla="val 22857"/>
            </a:avLst>
          </a:prstGeom>
          <a:solidFill>
            <a:srgbClr val="F26E21"/>
          </a:solidFill>
          <a:ln/>
        </p:spPr>
      </p:sp>
      <p:sp>
        <p:nvSpPr>
          <p:cNvPr id="11" name="Text 9"/>
          <p:cNvSpPr/>
          <p:nvPr/>
        </p:nvSpPr>
        <p:spPr>
          <a:xfrm>
            <a:off x="7406640" y="267004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Communiquer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406640" y="299923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en place une messagerie électronique interne et une téléphonie IP.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766560" y="3749040"/>
            <a:ext cx="4846320" cy="1051560"/>
          </a:xfrm>
          <a:prstGeom prst="roundRect">
            <a:avLst>
              <a:gd name="adj" fmla="val 5217"/>
            </a:avLst>
          </a:prstGeom>
          <a:solidFill>
            <a:srgbClr val="FBF4EF"/>
          </a:solidFill>
          <a:ln w="9525">
            <a:solidFill>
              <a:srgbClr val="F0DCC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3931920"/>
            <a:ext cx="320040" cy="320040"/>
          </a:xfrm>
          <a:prstGeom prst="roundRect">
            <a:avLst>
              <a:gd name="adj" fmla="val 22857"/>
            </a:avLst>
          </a:prstGeom>
          <a:solidFill>
            <a:srgbClr val="F26E21"/>
          </a:solidFill>
          <a:ln/>
        </p:spPr>
      </p:sp>
      <p:sp>
        <p:nvSpPr>
          <p:cNvPr id="15" name="Text 13"/>
          <p:cNvSpPr/>
          <p:nvPr/>
        </p:nvSpPr>
        <p:spPr>
          <a:xfrm>
            <a:off x="7406640" y="38587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406640" y="418795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Restreindre certains appels téléphoniques (appels externes / longue distance).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766560" y="4937760"/>
            <a:ext cx="4846320" cy="1051560"/>
          </a:xfrm>
          <a:prstGeom prst="roundRect">
            <a:avLst>
              <a:gd name="adj" fmla="val 5217"/>
            </a:avLst>
          </a:prstGeom>
          <a:solidFill>
            <a:srgbClr val="FBF4EF"/>
          </a:solidFill>
          <a:ln w="9525">
            <a:solidFill>
              <a:srgbClr val="F0DCC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9440" y="5120640"/>
            <a:ext cx="320040" cy="320040"/>
          </a:xfrm>
          <a:prstGeom prst="roundRect">
            <a:avLst>
              <a:gd name="adj" fmla="val 22857"/>
            </a:avLst>
          </a:prstGeom>
          <a:solidFill>
            <a:srgbClr val="F26E21"/>
          </a:solidFill>
          <a:ln/>
        </p:spPr>
      </p:sp>
      <p:sp>
        <p:nvSpPr>
          <p:cNvPr id="19" name="Text 17"/>
          <p:cNvSpPr/>
          <p:nvPr/>
        </p:nvSpPr>
        <p:spPr>
          <a:xfrm>
            <a:off x="7406640" y="50474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Sécuriser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406640" y="537667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Protéger l'accès (SSH, ACL) et alerter automatiquement en cas d'intrusion.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Interconnexion sécurisée de deux sites — BICEC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5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 des charges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5120640"/>
        </p:xfrm>
        <a:graphic>
          <a:graphicData uri="http://schemas.openxmlformats.org/drawingml/2006/table">
            <a:tbl>
              <a:tblPr/>
              <a:tblGrid>
                <a:gridCol w="3931920"/>
                <a:gridCol w="7132320"/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Besoin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Exigence technique retenue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Deux sites interconnectés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Liaison série WAN entre les deux routeurs, routage dynamique OSPF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Segmentation du réseau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VLAN dédiés par site : voix (téléphonie IP) et données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Attribution automatique des adresses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DHCP par VLAN, relayé par le routeur (ip helper-address)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Accès Internet sécurisé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Translation d'adresses NAT (PAT) côté routeur de sortie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Messagerie interne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Serveur de messagerie (SMTP/POP3) avec comptes utilisateurs par site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Téléphonie IP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 CallManager Express (CME), un téléphone IP par utilisateur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 des appels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 de restriction (COR) pour bloquer les appels non autorisés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Sécurité des accès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SSH, mots de passe chiffrés, Port Security, ACL standard/étendues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Détection d'intrusion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Journalisation (Syslog), alertes SNMP et blocage automatique de 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280160"/>
            <a:ext cx="11064240" cy="512064"/>
          </a:xfrm>
          <a:prstGeom prst="rect">
            <a:avLst/>
          </a:prstGeom>
          <a:solidFill>
            <a:srgbClr val="F26E21"/>
          </a:solidFill>
          <a:ln/>
        </p:spPr>
      </p:sp>
      <p:sp>
        <p:nvSpPr>
          <p:cNvPr id="4" name="Text 3"/>
          <p:cNvSpPr/>
          <p:nvPr/>
        </p:nvSpPr>
        <p:spPr>
          <a:xfrm>
            <a:off x="640080" y="1280160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0" y="1280160"/>
            <a:ext cx="6949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Exigence technique retenue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Interconnexion sécurisée de deux sites — BICEC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l'existant de la BICEC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611880" cy="4069080"/>
          </a:xfrm>
          <a:prstGeom prst="roundRect">
            <a:avLst>
              <a:gd name="adj" fmla="val 1519"/>
            </a:avLst>
          </a:prstGeom>
          <a:solidFill>
            <a:srgbClr val="FBF4EF"/>
          </a:solidFill>
          <a:ln w="9525">
            <a:solidFill>
              <a:srgbClr val="F0DCC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011680"/>
            <a:ext cx="3611880" cy="457200"/>
          </a:xfrm>
          <a:prstGeom prst="rect">
            <a:avLst/>
          </a:prstGeom>
          <a:solidFill>
            <a:srgbClr val="F26E2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01168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Existant observé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606040"/>
            <a:ext cx="32461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Décrivez ici l'architecture réseau actuelle de la BICEC : équipements, </a:t>
            </a:r>
            <a:r>
              <a:rPr lang="en-US" sz="1050" i="1" dirty="0" err="1" smtClean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79392" y="2011680"/>
            <a:ext cx="3611880" cy="4069080"/>
          </a:xfrm>
          <a:prstGeom prst="roundRect">
            <a:avLst>
              <a:gd name="adj" fmla="val 1519"/>
            </a:avLst>
          </a:prstGeom>
          <a:solidFill>
            <a:srgbClr val="FBF4EF"/>
          </a:solidFill>
          <a:ln w="9525">
            <a:solidFill>
              <a:srgbClr val="F0DC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79392" y="2011680"/>
            <a:ext cx="3611880" cy="457200"/>
          </a:xfrm>
          <a:prstGeom prst="rect">
            <a:avLst/>
          </a:prstGeom>
          <a:solidFill>
            <a:srgbClr val="F26E21"/>
          </a:solidFill>
          <a:ln/>
        </p:spPr>
      </p:sp>
      <p:sp>
        <p:nvSpPr>
          <p:cNvPr id="12" name="Text 10"/>
          <p:cNvSpPr/>
          <p:nvPr/>
        </p:nvSpPr>
        <p:spPr>
          <a:xfrm>
            <a:off x="4416552" y="201168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 / limites identifiées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62272" y="2606040"/>
            <a:ext cx="32461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Listez ici les points faibles ou risques observés (sécurité, redondance, performance, obsolescence…)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10144" y="2011680"/>
            <a:ext cx="3611880" cy="4069080"/>
          </a:xfrm>
          <a:prstGeom prst="roundRect">
            <a:avLst>
              <a:gd name="adj" fmla="val 1519"/>
            </a:avLst>
          </a:prstGeom>
          <a:solidFill>
            <a:srgbClr val="FBF4EF"/>
          </a:solidFill>
          <a:ln w="9525">
            <a:solidFill>
              <a:srgbClr val="F0DCC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10144" y="2011680"/>
            <a:ext cx="3611880" cy="457200"/>
          </a:xfrm>
          <a:prstGeom prst="rect">
            <a:avLst/>
          </a:prstGeom>
          <a:solidFill>
            <a:srgbClr val="F26E21"/>
          </a:solidFill>
          <a:ln/>
        </p:spPr>
      </p:sp>
      <p:sp>
        <p:nvSpPr>
          <p:cNvPr id="16" name="Text 14"/>
          <p:cNvSpPr/>
          <p:nvPr/>
        </p:nvSpPr>
        <p:spPr>
          <a:xfrm>
            <a:off x="8147304" y="201168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Améliorations proposées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93024" y="2606040"/>
            <a:ext cx="32461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Indiquez ici vos recommandations concrètes pour faire évoluer l'existant vers l'architecture proposée.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Interconnexion sécurisée de deux sites — BICEC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6E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C95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</a:t>
            </a:r>
            <a:endParaRPr lang="en-US" sz="10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C95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BICEC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149840" y="32004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49840" y="3200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</a:t>
            </a:r>
            <a:endParaRPr lang="en-US" sz="10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ESIAC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3246120"/>
            <a:ext cx="109728" cy="1280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880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2918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générale du réseau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02920" y="44348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D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logique de l'interconnexion — Cisco Packet Tracer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BD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Interconnexion sécurisée de deux sites — BICEC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BD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2932671" cy="1325880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3427" y="0"/>
            <a:ext cx="2998573" cy="13582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5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général du réseau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5029200" cy="3566160"/>
          </a:xfrm>
          <a:prstGeom prst="roundRect">
            <a:avLst>
              <a:gd name="adj" fmla="val 2051"/>
            </a:avLst>
          </a:prstGeom>
          <a:solidFill>
            <a:srgbClr val="FBF4EF"/>
          </a:solidFill>
          <a:ln w="12700">
            <a:solidFill>
              <a:srgbClr val="F0DC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468880"/>
            <a:ext cx="5029200" cy="457200"/>
          </a:xfrm>
          <a:prstGeom prst="rect">
            <a:avLst/>
          </a:prstGeom>
          <a:solidFill>
            <a:srgbClr val="F26E2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468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310896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26E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1089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 smtClean="0">
                <a:solidFill>
                  <a:srgbClr val="2B2B2E"/>
                </a:solidFill>
                <a:latin typeface="Calibri" pitchFamily="34" charset="0"/>
                <a:cs typeface="Calibri" pitchFamily="34" charset="-120"/>
              </a:rPr>
              <a:t>Switch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310896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8A8F9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31089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 err="1" smtClean="0">
                <a:solidFill>
                  <a:srgbClr val="2B2B2E"/>
                </a:solidFill>
                <a:latin typeface="Calibri" pitchFamily="34" charset="0"/>
                <a:cs typeface="Calibri" pitchFamily="34" charset="-120"/>
              </a:rPr>
              <a:t>Routeur</a:t>
            </a:r>
            <a:r>
              <a:rPr lang="en-US" sz="1050" b="1" dirty="0" smtClean="0">
                <a:solidFill>
                  <a:srgbClr val="2B2B2E"/>
                </a:solidFill>
                <a:latin typeface="Calibri" pitchFamily="34" charset="0"/>
                <a:cs typeface="Calibri" pitchFamily="34" charset="-120"/>
              </a:rPr>
              <a:t>  </a:t>
            </a:r>
          </a:p>
          <a:p>
            <a:pPr marL="0" indent="0" algn="ctr">
              <a:buNone/>
            </a:pPr>
            <a:r>
              <a:rPr lang="en-US" sz="1050" b="1" dirty="0" smtClean="0">
                <a:solidFill>
                  <a:srgbClr val="2B2B2E"/>
                </a:solidFill>
                <a:latin typeface="Calibri" pitchFamily="34" charset="0"/>
                <a:cs typeface="Calibri" pitchFamily="34" charset="-120"/>
              </a:rPr>
              <a:t>Site 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416052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Voix 10 — 192.168.10.0/24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Données 20 — 192.168.20.0/24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507492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• DHCP • Messagerie • Imprimante • IP Phones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583680" y="2468880"/>
            <a:ext cx="5029200" cy="3566160"/>
          </a:xfrm>
          <a:prstGeom prst="roundRect">
            <a:avLst>
              <a:gd name="adj" fmla="val 2051"/>
            </a:avLst>
          </a:prstGeom>
          <a:solidFill>
            <a:srgbClr val="FBF4EF"/>
          </a:solidFill>
          <a:ln w="12700">
            <a:solidFill>
              <a:srgbClr val="F0DCC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2468880"/>
            <a:ext cx="5029200" cy="457200"/>
          </a:xfrm>
          <a:prstGeom prst="rect">
            <a:avLst/>
          </a:prstGeom>
          <a:solidFill>
            <a:srgbClr val="F26E21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2468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B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949440" y="310896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26E2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31089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Routeur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B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326880" y="310896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8A8F9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0" y="31089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B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903720" y="416052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Voix 30 — 192.168.30.0/24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Données 40 — 192.168.40.0/24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03720" y="507492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• DHCP • Messagerie • Imprimante • IP Phones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577840" y="3493008"/>
            <a:ext cx="1005840" cy="0"/>
          </a:xfrm>
          <a:prstGeom prst="line">
            <a:avLst/>
          </a:prstGeom>
          <a:noFill/>
          <a:ln w="31750">
            <a:solidFill>
              <a:srgbClr val="F26E21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120640" y="28346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95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Liaison WAN série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C95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192.168.100.0/30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Interconnexion sécurisée de deux sites — BICEC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69" y="41189"/>
            <a:ext cx="11302312" cy="608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604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5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d'adressage IP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2743200"/>
        </p:xfrm>
        <a:graphic>
          <a:graphicData uri="http://schemas.openxmlformats.org/drawingml/2006/table">
            <a:tbl>
              <a:tblPr/>
              <a:tblGrid>
                <a:gridCol w="1188720"/>
                <a:gridCol w="914400"/>
                <a:gridCol w="5303520"/>
                <a:gridCol w="2194560"/>
                <a:gridCol w="1463040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Réseau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Passerelle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Téléphonie 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192.168.10.0 /24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192.168.10.1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Données (PC, DHCP, messagerie, imprimante)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192.168.20.0 /24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192.168.20.1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Téléphonie 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192.168.30.0 /24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192.168.30.1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Données (PC, DHCP, messagerie, imprimante)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192.168.40.0 /24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192.168.40.1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↔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Liaison WAN série (inter-sites)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192.168.100.0 /30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R-A: .1 / R-B: 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solidFill>
            <a:srgbClr val="F26E21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2344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828800" y="12344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743200" y="12344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046720" y="12344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</a:t>
            </a:r>
            <a:endParaRPr lang="en-US" sz="1150" dirty="0"/>
          </a:p>
        </p:txBody>
      </p:sp>
      <p:sp>
        <p:nvSpPr>
          <p:cNvPr id="4" name="Text 7"/>
          <p:cNvSpPr/>
          <p:nvPr/>
        </p:nvSpPr>
        <p:spPr>
          <a:xfrm>
            <a:off x="10241280" y="1234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Passerelle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4434840"/>
            <a:ext cx="11064240" cy="1737360"/>
          </a:xfrm>
          <a:prstGeom prst="roundRect">
            <a:avLst>
              <a:gd name="adj" fmla="val 3158"/>
            </a:avLst>
          </a:prstGeom>
          <a:solidFill>
            <a:srgbClr val="FBF4EF"/>
          </a:solidFill>
          <a:ln w="9525">
            <a:solidFill>
              <a:srgbClr val="F0DCC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457200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Serveurs applicatifs (adresses fixes, hors plage DHCP)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77240" y="489204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DHCP Site A : 192.168.20.2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Messagerie Site A : 192.168.20.3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Imprimante Site A : 192.168.20.4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035040" y="489204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DHCP Site B : 192.168.40.2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Messagerie Site B : 192.168.40.3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Imprimante Site B : 192.168.40.4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Interconnexion sécurisée de deux sites — BICEC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5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de base des routeurs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Sécuriser l'accès administrateur, nommer les équipements et activer les interfaces avant toute autre configuration.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3703320"/>
          </a:xfrm>
          <a:prstGeom prst="roundRect">
            <a:avLst>
              <a:gd name="adj" fmla="val 1481"/>
            </a:avLst>
          </a:prstGeom>
          <a:solidFill>
            <a:srgbClr val="241A12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93392"/>
            <a:ext cx="10661904" cy="3374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D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Router&gt; enable
Router# configure terminal
Router(config)# hostname R-SiteA
R-SiteA(config)# enable secret &lt;mot_de_passe_fort&gt;
R-SiteA(config)# service password-encryption
R-SiteA(config)# no ip domain-lookup
R-SiteA(config)# line console 0
R-SiteA(config-line)# password &lt;mot_de_passe&gt;
R-SiteA(config-line)# login
R-SiteA(config-line)# exit
R-SiteA(config)# interface serial 0/0/0
R-SiteA(config-if)# ip address 192.168.100.1 255.255.255.252
R-SiteA(config-if)# clock rate 64000
R-SiteA(config-if)# no shutdown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DEDE3"/>
          </a:solidFill>
          <a:ln w="9525">
            <a:solidFill>
              <a:srgbClr val="F26E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6692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5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reproduire sur le routeur Site B avec les paramètres correspondants.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Interconnexion sécurisée de deux sites — BICEC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5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Liaison inter-sites et routage dynamique (OSPF)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liaison série relie les deux routeurs ; OSPF apprend automatiquement les réseaux distants (VLAN 10/20 ↔ VLAN 30/40).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3703320"/>
          </a:xfrm>
          <a:prstGeom prst="roundRect">
            <a:avLst>
              <a:gd name="adj" fmla="val 1481"/>
            </a:avLst>
          </a:prstGeom>
          <a:solidFill>
            <a:srgbClr val="241A12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93392"/>
            <a:ext cx="10661904" cy="3374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D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R-SiteA(config)# router ospf 1
R-SiteA(config-router)# network 192.168.10.0 0.0.0.255 area 0
R-SiteA(config-router)# network 192.168.20.0 0.0.0.255 area 0
R-SiteA(config-router)# network 192.168.100.0 0.0.0.3 area 0
R-SiteA(config-router)# exit
</a:t>
            </a:r>
            <a:r>
              <a:rPr lang="en-US" sz="1150" i="1" dirty="0">
                <a:solidFill>
                  <a:srgbClr val="C79A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 Vérification :
</a:t>
            </a:r>
            <a:r>
              <a:rPr lang="en-US" sz="1150" dirty="0">
                <a:solidFill>
                  <a:srgbClr val="FFD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R-SiteA# show ip route ospf
R-SiteA# show ip ospf neighbor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DEDE3"/>
          </a:solidFill>
          <a:ln w="9525">
            <a:solidFill>
              <a:srgbClr val="F26E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6692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5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logique sur R-SiteB, avec les réseaux 30/40.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Interconnexion sécurisée de deux sites — BICEC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5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des VLAN sur les commutateurs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switch cloisonne le trafic voix et données ; le port relié au routeur est configuré en mode trunk.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3703320"/>
          </a:xfrm>
          <a:prstGeom prst="roundRect">
            <a:avLst>
              <a:gd name="adj" fmla="val 1481"/>
            </a:avLst>
          </a:prstGeom>
          <a:solidFill>
            <a:srgbClr val="241A12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93392"/>
            <a:ext cx="10661904" cy="3374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D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Switch(config)# hostname SW-SiteA
SW-SiteA(config)# vlan 10
SW-SiteA(config-vlan)# name VOIX
SW-SiteA(config)# vlan 20
SW-SiteA(config-vlan)# name DONNEES
SW-SiteA(config)# interface range fastEthernet 0/1-10
SW-SiteA(config-if-range)# switchport mode access
SW-SiteA(config-if-range)# switchport voice vlan 10
SW-SiteA(config-if-range)# switchport access vlan 20
SW-SiteA(config)# interface fastEthernet 0/24
SW-SiteA(config-if)# switchport mode trunk
SW-SiteA(config-if)# switchport trunk allowed vlan 10,20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DEDE3"/>
          </a:solidFill>
          <a:ln w="9525">
            <a:solidFill>
              <a:srgbClr val="F26E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6692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5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principe sur Switch Site B avec les VLAN 30/40.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Interconnexion sécurisée de deux sites — BICEC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5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Routage inter-VLAN — Router-on-a-stick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routeur crée une sous-interface par VLAN sur son unique lien vers le switch, chacune servant de passerelle.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3703320"/>
          </a:xfrm>
          <a:prstGeom prst="roundRect">
            <a:avLst>
              <a:gd name="adj" fmla="val 1481"/>
            </a:avLst>
          </a:prstGeom>
          <a:solidFill>
            <a:srgbClr val="241A12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93392"/>
            <a:ext cx="10661904" cy="3374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D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R-SiteA(config)# interface gigabitEthernet 0/0.10
R-SiteA(config-subif)# encapsulation dot1Q 10
R-SiteA(config-subif)# ip address 192.168.10.1 255.255.255.0
R-SiteA(config)# interface gigabitEthernet 0/0.20
R-SiteA(config-subif)# encapsulation dot1Q 20
R-SiteA(config-subif)# ip address 192.168.20.1 255.255.255.0
R-SiteA(config)# interface gigabitEthernet 0/0
R-SiteA(config-if)# no shutdown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DEDE3"/>
          </a:solidFill>
          <a:ln w="9525">
            <a:solidFill>
              <a:srgbClr val="F26E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6692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5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Identique sur R-SiteB avec VLAN 30/40 et 192.168.30.x / 192.168.40.x.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Interconnexion sécurisée de deux sites — BICEC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5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DHCP par VLAN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routeur relaie les requêtes DHCP vers le serveur (ip helper-address) ; le serveur attribue les adresses par VLAN.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3703320"/>
          </a:xfrm>
          <a:prstGeom prst="roundRect">
            <a:avLst>
              <a:gd name="adj" fmla="val 1481"/>
            </a:avLst>
          </a:prstGeom>
          <a:solidFill>
            <a:srgbClr val="241A12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93392"/>
            <a:ext cx="10661904" cy="3374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D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R-SiteA(config)# ip dhcp excluded-address 192.168.20.1 192.168.20.10
R-SiteA(config)# ip dhcp excluded-address 192.168.10.1 192.168.10.5
R-SiteA(config)# interface gigabitEthernet 0/0.10
R-SiteA(config-subif)# ip helper-address 192.168.20.2
R-SiteA(config)# interface gigabitEthernet 0/0.20
R-SiteA(config-subif)# ip helper-address 192.168.20.2
</a:t>
            </a:r>
            <a:r>
              <a:rPr lang="en-US" sz="1150" i="1" dirty="0">
                <a:solidFill>
                  <a:srgbClr val="C79A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 Côté serveur (Server-PT &gt; Services &gt; DHCP) :
! Pool VLAN20 : réseau 192.168.20.0/24, passerelle 192.168.20.1
! Pool VLAN10 : réseau 192.168.10.0/24, option 150 = 192.168.20.1 (TFTP CME)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DEDE3"/>
          </a:solidFill>
          <a:ln w="9525">
            <a:solidFill>
              <a:srgbClr val="F26E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6692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5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avec ipconfig /release puis /renew sur un poste client.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Interconnexion sécurisée de deux sites — BICEC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5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6 · NOUVEAU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— Accès Internet sécurisé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NAT dynamique (surcharge / PAT) permet aux postes des VLAN internes de sortir vers Internet via une seule adresse publique du routeur de bordure.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3703320"/>
          </a:xfrm>
          <a:prstGeom prst="roundRect">
            <a:avLst>
              <a:gd name="adj" fmla="val 1481"/>
            </a:avLst>
          </a:prstGeom>
          <a:solidFill>
            <a:srgbClr val="241A12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93392"/>
            <a:ext cx="10661904" cy="3374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D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R-SiteA(config)# access-list 1 permit 192.168.10.0 0.0.0.255
R-SiteA(config)# access-list 1 permit 192.168.20.0 0.0.0.255
R-SiteA(config)# interface gigabitEthernet 0/1
R-SiteA(config-if)# ip address &lt;adresse_publique&gt; &lt;masque&gt;
R-SiteA(config-if)# ip nat outside
R-SiteA(config)# interface gigabitEthernet 0/0
R-SiteA(config-if)# ip nat inside
R-SiteA(config)# ip nat inside source list 1 interface gigabitEthernet 0/1 overload
</a:t>
            </a:r>
            <a:r>
              <a:rPr lang="en-US" sz="1150" i="1" dirty="0">
                <a:solidFill>
                  <a:srgbClr val="C79A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 Vérification :
</a:t>
            </a:r>
            <a:r>
              <a:rPr lang="en-US" sz="1150" dirty="0">
                <a:solidFill>
                  <a:srgbClr val="FFD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R-SiteA# show ip nat translations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DEDE3"/>
          </a:solidFill>
          <a:ln w="9525">
            <a:solidFill>
              <a:srgbClr val="F26E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6692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5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liste d'accès 1 définit les réseaux internes autorisés à être traduits (NAT overload / PAT).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Interconnexion sécurisée de deux sites — BICEC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5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 messagerie électronique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serveur de messagerie interne par site permet l'échange de courriels entre utilisateurs des deux sites (SMTP/POP3).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3703320"/>
          </a:xfrm>
          <a:prstGeom prst="roundRect">
            <a:avLst>
              <a:gd name="adj" fmla="val 1481"/>
            </a:avLst>
          </a:prstGeom>
          <a:solidFill>
            <a:srgbClr val="241A12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93392"/>
            <a:ext cx="10661904" cy="3374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C79A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 Sur le serveur (192.168.20.3) — onglet Config &gt; SMTP / POP3 :
! Activer SMTP et POP3
! Domaine de messagerie : entreprise.local
! Créer un compte par utilisateur (nom + mot de passe)
</a:t>
            </a:r>
            <a:r>
              <a:rPr lang="en-US" sz="1150" dirty="0">
                <a:solidFill>
                  <a:srgbClr val="FFD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50" i="1" dirty="0">
                <a:solidFill>
                  <a:srgbClr val="C79A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 Sur chaque poste client (Desktop &gt; E Mail) :
! Adresse : utilisateur@entreprise.local
! Serveur entrant (POP3) : 192.168.20.3 (ou 192.168.40.3 pour le site B)
! Serveur sortant (SMTP) : 192.168.20.3 (ou 192.168.40.3)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DEDE3"/>
          </a:solidFill>
          <a:ln w="9525">
            <a:solidFill>
              <a:srgbClr val="F26E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6692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5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: envoi d'un courriel entre un poste du Site A et un poste du Site B.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Interconnexion sécurisée de deux sites — BICEC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5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Téléphonie IP — Cisco CallManager Express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routeur de chaque site joue le rôle de central téléphonique (CME) et attribue un numéro à chaque téléphone IP.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3703320"/>
          </a:xfrm>
          <a:prstGeom prst="roundRect">
            <a:avLst>
              <a:gd name="adj" fmla="val 1481"/>
            </a:avLst>
          </a:prstGeom>
          <a:solidFill>
            <a:srgbClr val="241A12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93392"/>
            <a:ext cx="10661904" cy="3374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D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R-SiteA(config)# telephony-service
R-SiteA(config-telephony)# max-ephones 10
R-SiteA(config-telephony)# max-dn 10
R-SiteA(config-telephony)# ip source-address 192.168.20.1 port 2000
R-SiteA(config-telephony)# auto assign 1 to 10
R-SiteA(config-telephony)# create cnf-files
R-SiteA(config)# ephone-dn 1
R-SiteA(config-ephone-dn)# number 1001
R-SiteA(config)# ephone 1
R-SiteA(config-ephone)# button 1:1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DEDE3"/>
          </a:solidFill>
          <a:ln w="9525">
            <a:solidFill>
              <a:srgbClr val="F26E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6692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5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Numérotation 10xx pour le Site A, 30xx pour le Site B.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Interconnexion sécurisée de deux sites — BICEC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5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Restriction et limitation des appels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dial-peer relie les deux sites pour les appels inter-sites ; des listes COR limitent qui peut appeler vers l'extérieur.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3703320"/>
          </a:xfrm>
          <a:prstGeom prst="roundRect">
            <a:avLst>
              <a:gd name="adj" fmla="val 1481"/>
            </a:avLst>
          </a:prstGeom>
          <a:solidFill>
            <a:srgbClr val="241A12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93392"/>
            <a:ext cx="10661904" cy="3374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D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R-SiteA(config)# dial-peer voice 20 voip
R-SiteA(config-dial-peer)# destination-pattern 30..
R-SiteA(config-dial-peer)# session target ipv4:192.168.100.2
R-SiteA(config)# dial-peer cor custom
R-SiteA(config-dial-cor)# name AUTORISE_EXTERNE
R-SiteA(config)# dial-peer cor list LISTE_RESTREINTE
R-SiteA(config-dial-cor-list)# member AUTORISE_EXTERNE
R-SiteA(config)# ephone-dn 1
R-SiteA(config-ephone-dn)# corlist incoming LISTE_RESTREINTE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DEDE3"/>
          </a:solidFill>
          <a:ln w="9525">
            <a:solidFill>
              <a:srgbClr val="F26E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6692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5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Seuls les postes possédant la classe adéquate peuvent émettre vers l'extérieur.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Interconnexion sécurisée de deux sites — BICEC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5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Sécurisation des accès — SSH &amp; Port Security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distant chiffré (SSH) et contrôle des adresses MAC par port pour limiter les branchements non autorisés.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3703320"/>
          </a:xfrm>
          <a:prstGeom prst="roundRect">
            <a:avLst>
              <a:gd name="adj" fmla="val 1481"/>
            </a:avLst>
          </a:prstGeom>
          <a:solidFill>
            <a:srgbClr val="241A12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93392"/>
            <a:ext cx="10661904" cy="3374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D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R-SiteA(config)# ip domain-name entreprise.local
R-SiteA(config)# crypto key generate rsa modulus 1024
R-SiteA(config)# username admin secret &lt;mot_de_passe_fort&gt;
R-SiteA(config)# line vty 0 4
R-SiteA(config-line)# transport input ssh
R-SiteA(config-line)# login local
SW-SiteA(config)# interface fastEthernet 0/2
SW-SiteA(config-if)# switchport port-security
SW-SiteA(config-if)# switchport port-security maximum 1
SW-SiteA(config-if)# switchport port-security mac-address sticky
SW-SiteA(config-if)# switchport port-security violation shutdown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DEDE3"/>
          </a:solidFill>
          <a:ln w="9525">
            <a:solidFill>
              <a:srgbClr val="F26E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6692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5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Telnet est désactivé au profit du SSH sur les accès d'administration.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Interconnexion sécurisée de deux sites — BICEC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5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11 · NOUVEAU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Listes de contrôle d'accès (ACL)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ACL filtrent le trafic entre VLAN et sécurisent l'accès à l'administration des équipements, en complément du SSH et du Port Security.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3703320"/>
          </a:xfrm>
          <a:prstGeom prst="roundRect">
            <a:avLst>
              <a:gd name="adj" fmla="val 1481"/>
            </a:avLst>
          </a:prstGeom>
          <a:solidFill>
            <a:srgbClr val="241A12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93392"/>
            <a:ext cx="10661904" cy="3374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C79A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 ACL étendue : le VLAN Voix ne doit pas être joignable depuis le VLAN Données
</a:t>
            </a:r>
            <a:r>
              <a:rPr lang="en-US" sz="1150" dirty="0">
                <a:solidFill>
                  <a:srgbClr val="FFD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R-SiteA(config)# access-list 101 deny ip 192.168.20.0 0.0.0.255 192.168.10.0 0.0.0.255
R-SiteA(config)# access-list 101 permit ip any any
R-SiteA(config)# interface gigabitEthernet 0/0.20
R-SiteA(config-subif)# ip access-group 101 in
</a:t>
            </a:r>
            <a:r>
              <a:rPr lang="en-US" sz="1150" i="1" dirty="0">
                <a:solidFill>
                  <a:srgbClr val="C79A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 ACL standard : seul le poste d'administration peut ouvrir une session SSH
</a:t>
            </a:r>
            <a:r>
              <a:rPr lang="en-US" sz="1150" dirty="0">
                <a:solidFill>
                  <a:srgbClr val="FFD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R-SiteA(config)# access-list 10 permit host 192.168.20.10
R-SiteA(config)# line vty 0 4
R-SiteA(config-line)# access-class 10 in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DEDE3"/>
          </a:solidFill>
          <a:ln w="9525">
            <a:solidFill>
              <a:srgbClr val="F26E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6692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5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Complète les mesures de sécurité : SSH (accès chiffré) + Port Security (contrôle physique) + ACL (filtrage du trafic).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Interconnexion sécurisée de deux sites — BICEC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5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et alerte automatique d'intrusion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violation (MAC inconnue, accès non autorisé) coupe le port et génère immédiatement une alerte vers un serveur de supervision.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3703320"/>
          </a:xfrm>
          <a:prstGeom prst="roundRect">
            <a:avLst>
              <a:gd name="adj" fmla="val 1481"/>
            </a:avLst>
          </a:prstGeom>
          <a:solidFill>
            <a:srgbClr val="241A12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93392"/>
            <a:ext cx="10661904" cy="3374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D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R-SiteA(config)# logging host 192.168.20.5
R-SiteA(config)# logging trap informational
R-SiteA(config)# service timestamps log datetime msec
R-SiteA(config)# snmp-server community superviseur RO
R-SiteA(config)# snmp-server enable traps snmp linkdown linkup
R-SiteA(config)# snmp-server enable traps port-security
R-SiteA(config)# snmp-server host 192.168.20.5 version 2c superviseur
SW-SiteA(config-if)# switchport port-security violation shutdown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DEDE3"/>
          </a:solidFill>
          <a:ln w="9525">
            <a:solidFill>
              <a:srgbClr val="F26E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6692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5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 ⇒ port désactivé + trap SNMP + message Syslog horodaté envoyés automatiquement.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Interconnexion sécurisée de deux sites — BICEC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5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· NOUVEAU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estimatif de réalisation du projet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indicative pour un déploiement réel (hors simulation Packet Tracer), à ajuster selon les tarifs fournisseurs.</a:t>
            </a:r>
            <a:endParaRPr lang="en-US" sz="11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3785616"/>
        </p:xfrm>
        <a:graphic>
          <a:graphicData uri="http://schemas.openxmlformats.org/drawingml/2006/table">
            <a:tbl>
              <a:tblPr/>
              <a:tblGrid>
                <a:gridCol w="3474720"/>
                <a:gridCol w="4206240"/>
                <a:gridCol w="822960"/>
                <a:gridCol w="2560320"/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 de dépense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Détail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Coût estimé (FCFA)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Routeurs Cisco (ISR)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par site, ports WAN + 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3 600 000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Commutateurs manageables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par site, PoE pour IP Phones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1 800 000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Téléphones 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par utilisateur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2 000 000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Serveurs (messagerie / DHCP)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Mutualisés ou virtualisés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1 400 000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Liaison WAN inter-sites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Abonnement opérateur (annuel)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1 800 000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Licences &amp; supervision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IOS, SNMP/Syslog, antivirus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Installation, câblage &amp; mise en 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d'œuvre, tests, recette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1 200 000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Formation des utilisateurs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Messagerie, téléphonie, sécurité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1691640"/>
            <a:ext cx="11064240" cy="420624"/>
          </a:xfrm>
          <a:prstGeom prst="rect">
            <a:avLst/>
          </a:prstGeom>
          <a:solidFill>
            <a:srgbClr val="F26E21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691640"/>
            <a:ext cx="3337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 de dépense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0" y="1691640"/>
            <a:ext cx="4069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321040" y="1691640"/>
            <a:ext cx="685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Qté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0" y="1691640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estimé (FCFA)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772400" y="5897880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F26E21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0" y="589788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estimatif ≈ 13 200 000 FCFA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Interconnexion sécurisée de deux sites — BICEC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5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et validation</a:t>
            </a:r>
            <a:endParaRPr lang="en-US" sz="2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4572000"/>
        </p:xfrm>
        <a:graphic>
          <a:graphicData uri="http://schemas.openxmlformats.org/drawingml/2006/table">
            <a:tbl>
              <a:tblPr/>
              <a:tblGrid>
                <a:gridCol w="2377440"/>
                <a:gridCol w="4114800"/>
                <a:gridCol w="4572000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Commande / 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Résultat attendu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Connectivité inter-VLAN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ping 192.168.30.10 depuis un PC du VLAN 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Réponse reçue (routage OK)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Liaison inter-sites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ip ospf neighbor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Voisinage OSPF établi (Full)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Attribution DHCP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ipconfig /release puis /renew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Adresse du bon VLAN obtenue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Accès Internet (NAT)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ip nat translations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Traduction d'adresse visible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Messagerie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Envoi d'un courriel Site A → Site 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Courriel reçu par le destinataire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Téléphonie 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Appel entre deux postes du même site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Communication établie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Restriction d'appel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Appel vers un numéro non autorisé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Appel rejeté (COR)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Filtrage ACL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ping VLAN Voix depuis VLAN Données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Paquet refusé (ACL)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Sécurité du 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Branchement d'un poste inconnu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désactivé + alerte Syslog/SNMP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solidFill>
            <a:srgbClr val="F26E21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2801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017520" y="128016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/ action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132320" y="128016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attendu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Interconnexion sécurisée de deux sites — BICEC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6E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9191" y="32004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C95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</a:t>
            </a:r>
            <a:endParaRPr lang="en-US" sz="10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C95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BICEC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149840" y="32004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49840" y="3200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</a:t>
            </a:r>
            <a:endParaRPr lang="en-US" sz="10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ESIAC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3246120"/>
            <a:ext cx="109728" cy="1280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880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2918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réseau fonctionnel, cloisonné et surveillé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BD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Interconnexion sécurisée de deux sites — BICEC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BD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sites communiquent de façon fiable grâce au routage OSPF et au cloisonnement VLAN.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messagerie, la téléphonie IP et l'accès Internet (NAT) répondent aux besoins de communication, avec des appels maîtrisés grâce aux listes COR.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sécurité repose sur plusieurs niveaux : SSH, ACL, Port Security et alerte automatique (Syslog/SNMP) en cas d'intrusion.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: redondance des liaisons WAN, supervision centralisée (SNMP/NMS), IPS/IDS renforcé.</a:t>
            </a:r>
            <a:endParaRPr lang="en-US" sz="1300" dirty="0"/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2838970" cy="1556951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3471" y="-21419"/>
            <a:ext cx="2858529" cy="154418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6E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C95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</a:t>
            </a:r>
            <a:endParaRPr lang="en-US" sz="10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C95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BICEC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149840" y="32004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49840" y="3200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</a:t>
            </a:r>
            <a:endParaRPr lang="en-US" sz="10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ESIAC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échanges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D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Benoît Christian  </a:t>
            </a:r>
            <a:r>
              <a:rPr lang="en-US" sz="1100" dirty="0" smtClean="0">
                <a:solidFill>
                  <a:srgbClr val="FD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Stage </a:t>
            </a:r>
            <a:r>
              <a:rPr lang="en-US" sz="1100" dirty="0">
                <a:solidFill>
                  <a:srgbClr val="FD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BICEC</a:t>
            </a:r>
            <a:endParaRPr lang="en-US" sz="1100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3306991" cy="1383957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341" y="0"/>
            <a:ext cx="3278659" cy="13839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</TotalTime>
  <Words>1972</Words>
  <Application>Microsoft Office PowerPoint</Application>
  <PresentationFormat>Grand écran</PresentationFormat>
  <Paragraphs>385</Paragraphs>
  <Slides>26</Slides>
  <Notes>25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BELL BENOIT CHRISTIAN</cp:lastModifiedBy>
  <cp:revision>14</cp:revision>
  <dcterms:created xsi:type="dcterms:W3CDTF">2026-07-31T08:27:30Z</dcterms:created>
  <dcterms:modified xsi:type="dcterms:W3CDTF">2026-08-25T14:35:04Z</dcterms:modified>
</cp:coreProperties>
</file>